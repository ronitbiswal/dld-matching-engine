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B6CB0"/>
                </a:solidFill>
                <a:latin typeface="Calibri"/>
              </a:defRPr>
            </a:pPr>
            <a:r>
              <a:t>DIGITAL LOGIC DESIGN (DLD) HARDWARE PROJECT</a:t>
            </a:r>
          </a:p>
          <a:p>
            <a:pPr>
              <a:spcAft>
                <a:spcPts val="1000"/>
              </a:spcAft>
              <a:defRPr sz="3600" b="1">
                <a:solidFill>
                  <a:srgbClr val="1A365D"/>
                </a:solidFill>
                <a:latin typeface="Calibri"/>
              </a:defRPr>
            </a:pPr>
            <a:r>
              <a:t>Hardware Limit Order Book &amp;</a:t>
            </a:r>
            <a:br/>
            <a:r>
              <a:t>Parallel Matching Engine in Verilog RTL</a:t>
            </a:r>
          </a:p>
          <a:p>
            <a:pPr>
              <a:defRPr sz="1600">
                <a:solidFill>
                  <a:srgbClr val="2D3748"/>
                </a:solidFill>
                <a:latin typeface="Calibri"/>
              </a:defRPr>
            </a:pPr>
            <a:r>
              <a:t>Synthesizable Clocked Architecture for Sub-50ns Deterministic Price-Time Order Matching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A365D"/>
                </a:solidFill>
                <a:latin typeface="Calibri"/>
              </a:defRPr>
            </a:pPr>
            <a:r>
              <a:t>Project Team Members &amp; Roll Numbers:</a:t>
            </a:r>
          </a:p>
          <a:p>
            <a:pPr>
              <a:spcAft>
                <a:spcPts val="200"/>
              </a:spcAft>
              <a:defRPr sz="1100">
                <a:solidFill>
                  <a:srgbClr val="2D3748"/>
                </a:solidFill>
                <a:latin typeface="Calibri"/>
              </a:defRPr>
            </a:pPr>
            <a:r>
              <a:t>•  Member 1 (Presenter): Ronit Biswal (2025csb1511)  —  Price Discovery &amp; Priority Encoding</a:t>
            </a:r>
          </a:p>
          <a:p>
            <a:pPr>
              <a:spcAft>
                <a:spcPts val="200"/>
              </a:spcAft>
              <a:defRPr sz="1100">
                <a:solidFill>
                  <a:srgbClr val="2D3748"/>
                </a:solidFill>
                <a:latin typeface="Calibri"/>
              </a:defRPr>
            </a:pPr>
            <a:r>
              <a:t>•  Member 2: Shalin Javaria (2025csb1257)  —  Order Storage, Queues &amp; Allocator</a:t>
            </a:r>
          </a:p>
          <a:p>
            <a:pPr>
              <a:spcAft>
                <a:spcPts val="200"/>
              </a:spcAft>
              <a:defRPr sz="1100">
                <a:solidFill>
                  <a:srgbClr val="2D3748"/>
                </a:solidFill>
                <a:latin typeface="Calibri"/>
              </a:defRPr>
            </a:pPr>
            <a:r>
              <a:t>•  Member 3: Saurabhraj (2025csb1256)  —  Matching Datapath &amp; Arithmetic</a:t>
            </a:r>
          </a:p>
          <a:p>
            <a:pPr>
              <a:spcAft>
                <a:spcPts val="200"/>
              </a:spcAft>
              <a:defRPr sz="1100">
                <a:solidFill>
                  <a:srgbClr val="2D3748"/>
                </a:solidFill>
                <a:latin typeface="Calibri"/>
              </a:defRPr>
            </a:pPr>
            <a:r>
              <a:t>•  Member 4: Yash Kumar (2025csb1268)  —  Master Control FSM &amp; Top Integration</a:t>
            </a:r>
          </a:p>
          <a:p>
            <a:pPr>
              <a:spcAft>
                <a:spcPts val="200"/>
              </a:spcAft>
              <a:defRPr sz="1100">
                <a:solidFill>
                  <a:srgbClr val="2D3748"/>
                </a:solidFill>
                <a:latin typeface="Calibri"/>
              </a:defRPr>
            </a:pPr>
            <a:r>
              <a:t>•  Member 5: Niket (2025csb1446)  —  Pre-Trade Risk Filter &amp; Golden Model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B6CB0"/>
                </a:solidFill>
                <a:latin typeface="Calibri"/>
              </a:defRPr>
            </a:pPr>
            <a:r>
              <a:t>DLD HARDWARE PROJECT | GROUP 15</a:t>
            </a:r>
          </a:p>
          <a:p>
            <a:pPr>
              <a:defRPr sz="2400" b="1">
                <a:solidFill>
                  <a:srgbClr val="1A365D"/>
                </a:solidFill>
                <a:latin typeface="Calibri"/>
              </a:defRPr>
            </a:pPr>
            <a:r>
              <a:t>Motivation: Why Build a Matching Engine in Hardware?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9B2C2C"/>
                </a:solidFill>
                <a:latin typeface="Calibri"/>
              </a:defRPr>
            </a:pPr>
            <a:r>
              <a:t>Traditional Software Order Books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2D3748"/>
                </a:solidFill>
              </a:rPr>
              <a:t>Dynamic Heap / Tree Structures: </a:t>
            </a:r>
            <a:r>
              <a:rPr sz="1200">
                <a:solidFill>
                  <a:srgbClr val="718096"/>
                </a:solidFill>
              </a:rPr>
              <a:t>Software implementations use red-black trees, skiplists, or heaps in CPU memory.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2D3748"/>
                </a:solidFill>
              </a:rPr>
              <a:t>CPU Cache Misses &amp; Pointer Chasing: </a:t>
            </a:r>
            <a:r>
              <a:rPr sz="1200">
                <a:solidFill>
                  <a:srgbClr val="718096"/>
                </a:solidFill>
              </a:rPr>
              <a:t>Traversing pointers across large order books causes frequent L2/L3 cache misses.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2D3748"/>
                </a:solidFill>
              </a:rPr>
              <a:t>OS Thread Preemption &amp; Jitter: </a:t>
            </a:r>
            <a:r>
              <a:rPr sz="1200">
                <a:solidFill>
                  <a:srgbClr val="718096"/>
                </a:solidFill>
              </a:rPr>
              <a:t>Variable execution delay ranging from 1 to 15 microseconds, causing unpredictable trading latency.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76749"/>
                </a:solidFill>
                <a:latin typeface="Calibri"/>
              </a:defRPr>
            </a:pPr>
            <a:r>
              <a:t>Our Verilog RTL Hardware Design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2D3748"/>
                </a:solidFill>
              </a:rPr>
              <a:t>Dedicated On-Chip Registers: </a:t>
            </a:r>
            <a:r>
              <a:rPr sz="1200">
                <a:solidFill>
                  <a:srgbClr val="718096"/>
                </a:solidFill>
              </a:rPr>
              <a:t>64-bit occupancy bitmaps and 16-slot order memory reside directly in flip-flops.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2D3748"/>
                </a:solidFill>
              </a:rPr>
              <a:t>1-Cycle Best Price Discovery: </a:t>
            </a:r>
            <a:r>
              <a:rPr sz="1200">
                <a:solidFill>
                  <a:srgbClr val="718096"/>
                </a:solidFill>
              </a:rPr>
              <a:t>8x8 parallel hierarchical priority encoder extracts best bid/ask in 1 clock cycle (O(1)).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2D3748"/>
                </a:solidFill>
              </a:rPr>
              <a:t>Deterministic Clocked Latency: </a:t>
            </a:r>
            <a:r>
              <a:rPr sz="1200">
                <a:solidFill>
                  <a:srgbClr val="718096"/>
                </a:solidFill>
              </a:rPr>
              <a:t>No cache misses, no OS overhead. Execution takes exactly 5 clock cycles (50ns at 100 MHz).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B6CB0"/>
                </a:solidFill>
                <a:latin typeface="Calibri"/>
              </a:defRPr>
            </a:pPr>
            <a:r>
              <a:t>DLD HARDWARE PROJECT | GROUP 15</a:t>
            </a:r>
          </a:p>
          <a:p>
            <a:pPr>
              <a:defRPr sz="2400" b="1">
                <a:solidFill>
                  <a:srgbClr val="1A365D"/>
                </a:solidFill>
                <a:latin typeface="Calibri"/>
              </a:defRPr>
            </a:pPr>
            <a:r>
              <a:t>Top-Level Hardware Architecture &amp; Dataflow</a:t>
            </a:r>
          </a:p>
        </p:txBody>
      </p:sp>
      <p:pic>
        <p:nvPicPr>
          <p:cNvPr id="3" name="Picture 2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583680" cy="39502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89520" y="164592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A365D"/>
                </a:solidFill>
                <a:latin typeface="Calibri"/>
              </a:defRPr>
            </a:pPr>
            <a:r>
              <a:t>Subsystem Coordination: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D3748"/>
                </a:solidFill>
              </a:rPr>
              <a:t>1. Risk Filter: </a:t>
            </a:r>
            <a:r>
              <a:rPr sz="1100">
                <a:solidFill>
                  <a:srgbClr val="718096"/>
                </a:solidFill>
              </a:rPr>
              <a:t>Checks price bands, quantities, and 22-bit notional limits in 0 cycles.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D3748"/>
                </a:solidFill>
              </a:rPr>
              <a:t>2. Price Discovery: </a:t>
            </a:r>
            <a:r>
              <a:rPr sz="1100">
                <a:solidFill>
                  <a:srgbClr val="718096"/>
                </a:solidFill>
              </a:rPr>
              <a:t>64-bit Bid/Ask bitmaps find best active prices in 1 cycle.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D3748"/>
                </a:solidFill>
              </a:rPr>
              <a:t>3. Order Storage: </a:t>
            </a:r>
            <a:r>
              <a:rPr sz="1100">
                <a:solidFill>
                  <a:srgbClr val="718096"/>
                </a:solidFill>
              </a:rPr>
              <a:t>16-slot memory, per-price FIFO linked-lists, and LIFO slot allocator.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D3748"/>
                </a:solidFill>
              </a:rPr>
              <a:t>4. Datapath Arithmetic: </a:t>
            </a:r>
            <a:r>
              <a:rPr sz="1100">
                <a:solidFill>
                  <a:srgbClr val="718096"/>
                </a:solidFill>
              </a:rPr>
              <a:t>Checks price crossing and calculates min(in_qty, rest_qty).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D3748"/>
                </a:solidFill>
              </a:rPr>
              <a:t>5. Master Moore FSM: </a:t>
            </a:r>
            <a:r>
              <a:rPr sz="1100">
                <a:solidFill>
                  <a:srgbClr val="718096"/>
                </a:solidFill>
              </a:rPr>
              <a:t>8-state controller generating glitch-free registered control pulses.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B6CB0"/>
                </a:solidFill>
                <a:latin typeface="Calibri"/>
              </a:defRPr>
            </a:pPr>
            <a:r>
              <a:t>SUBSYSTEM DEEP DIVE | MEMBER 1</a:t>
            </a:r>
          </a:p>
          <a:p>
            <a:pPr>
              <a:defRPr sz="2400" b="1">
                <a:solidFill>
                  <a:srgbClr val="1A365D"/>
                </a:solidFill>
                <a:latin typeface="Calibri"/>
              </a:defRPr>
            </a:pPr>
            <a:r>
              <a:t>Member 1 (Ronit Biswal): Price Discovery &amp; Priority Encoding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2B6CB0"/>
                </a:solidFill>
                <a:latin typeface="Calibri"/>
              </a:rPr>
              <a:t>Dual 64-Bit Occupancy Bitmaps (price_bitmap.v): </a:t>
            </a:r>
            <a:r>
              <a:rPr sz="1300">
                <a:solidFill>
                  <a:srgbClr val="2D3748"/>
                </a:solidFill>
                <a:latin typeface="Calibri"/>
              </a:rPr>
              <a:t>Each bit represents one discrete price tick (ticks 0 to 63). Bit is set to 1 when an order arrives; cleared to 0 when that price level empties.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2B6CB0"/>
                </a:solidFill>
                <a:latin typeface="Calibri"/>
              </a:rPr>
              <a:t>8x8 Hierarchical Priority Encoder (priority_encoder.v): </a:t>
            </a:r>
            <a:r>
              <a:rPr sz="1300">
                <a:solidFill>
                  <a:srgbClr val="2D3748"/>
                </a:solidFill>
                <a:latin typeface="Calibri"/>
              </a:rPr>
              <a:t>Partitions 64 price ticks into eight 8-bit groups evaluated in parallel by local priority encoders. A global 8-bit encoder selects the highest active group. Achieves 1 clock cycle (O(1)) price discovery.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2B6CB0"/>
                </a:solidFill>
                <a:latin typeface="Calibri"/>
              </a:rPr>
              <a:t>The Bit-Reversal Technique for Best Ask: </a:t>
            </a:r>
            <a:r>
              <a:rPr sz="1300">
                <a:solidFill>
                  <a:srgbClr val="2D3748"/>
                </a:solidFill>
                <a:latin typeface="Calibri"/>
              </a:rPr>
              <a:t>Best Bid is the highest set bit, while Best Ask is the lowest set bit. Rather than building a second 64-bit encoder tree, we invert the bit-vector wire: rev[k] = bm[63-k]. Finding the highest bit of rev yields the lowest ask via (63 - rev_idx), saving over 40% FPGA gates.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2B6CB0"/>
                </a:solidFill>
                <a:latin typeface="Calibri"/>
              </a:rPr>
              <a:t>Sequential Scan Baseline vs Hierarchical Encoder: </a:t>
            </a:r>
            <a:r>
              <a:rPr sz="1300">
                <a:solidFill>
                  <a:srgbClr val="2D3748"/>
                </a:solidFill>
                <a:latin typeface="Calibri"/>
              </a:rPr>
              <a:t>In comparator_search.v, sequential scanning took 14 to 64 clock cycles. Our 8x8 hierarchical design achieves a 64x speedup in hardware.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B6CB0"/>
                </a:solidFill>
                <a:latin typeface="Calibri"/>
              </a:defRPr>
            </a:pPr>
            <a:r>
              <a:t>SUBSYSTEMS DEEP DIVE | MEMBERS 2 &amp; 3</a:t>
            </a:r>
          </a:p>
          <a:p>
            <a:pPr>
              <a:defRPr sz="2400" b="1">
                <a:solidFill>
                  <a:srgbClr val="1A365D"/>
                </a:solidFill>
                <a:latin typeface="Calibri"/>
              </a:defRPr>
            </a:pPr>
            <a:r>
              <a:t>Storage, FIFO Queues &amp; Matching Datapath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A365D"/>
                </a:solidFill>
                <a:latin typeface="Calibri"/>
              </a:defRPr>
            </a:pPr>
            <a:r>
              <a:t>Member 2: Order Storage (Shalin)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D3748"/>
                </a:solidFill>
              </a:rPr>
              <a:t>order_memory.v: </a:t>
            </a:r>
            <a:r>
              <a:rPr sz="1100">
                <a:solidFill>
                  <a:srgbClr val="718096"/>
                </a:solidFill>
              </a:rPr>
              <a:t>16-slot multi-field register array storing {id, side, price, qty, valid}. Features 16-way associative CAM search for 1-cycle order cancellation.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D3748"/>
                </a:solidFill>
              </a:rPr>
              <a:t>fifo_queue.v: </a:t>
            </a:r>
            <a:r>
              <a:rPr sz="1100">
                <a:solidFill>
                  <a:srgbClr val="718096"/>
                </a:solidFill>
              </a:rPr>
              <a:t>Shared linked-list pointer architecture. Each of the 64 levels maintains 4-bit head and tail pointers into a shared 16-entry next pointer table, saving 75% memory logic.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D3748"/>
                </a:solidFill>
              </a:rPr>
              <a:t>free_list_allocator.v: </a:t>
            </a:r>
            <a:r>
              <a:rPr sz="1100">
                <a:solidFill>
                  <a:srgbClr val="718096"/>
                </a:solidFill>
              </a:rPr>
              <a:t>LIFO slot allocation stack with double-free protection guard (in_use bitmask).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A365D"/>
                </a:solidFill>
                <a:latin typeface="Calibri"/>
              </a:defRPr>
            </a:pPr>
            <a:r>
              <a:t>Member 3: Datapath &amp; Arithmetic (Saurabhraj)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D3748"/>
                </a:solidFill>
              </a:rPr>
              <a:t>compatibility_logic.v: </a:t>
            </a:r>
            <a:r>
              <a:rPr sz="1100">
                <a:solidFill>
                  <a:srgbClr val="718096"/>
                </a:solidFill>
              </a:rPr>
              <a:t>Combinational price crossing evaluation: BUY matches if Price_in &gt;= Price_rest; SELL matches if Price_in &lt;= Price_rest. Inhibits matching if opposite book is empty.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D3748"/>
                </a:solidFill>
              </a:rPr>
              <a:t>quantity_arithmetic.v: </a:t>
            </a:r>
            <a:r>
              <a:rPr sz="1100">
                <a:solidFill>
                  <a:srgbClr val="718096"/>
                </a:solidFill>
              </a:rPr>
              <a:t>Computes trade execution volume: trade_qty = min(in_qty, rest_qty).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D3748"/>
                </a:solidFill>
              </a:rPr>
              <a:t>Underflow Immunity: </a:t>
            </a:r>
            <a:r>
              <a:rPr sz="1100">
                <a:solidFill>
                  <a:srgbClr val="718096"/>
                </a:solidFill>
              </a:rPr>
              <a:t>Remaining residual quantities: in_rem = in_qty - trade_qty and rest_rem = rest_qty - trade_qty. Underflow is mathematically impossible since trade_qty is bounded by the minimum.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B6CB0"/>
                </a:solidFill>
                <a:latin typeface="Calibri"/>
              </a:defRPr>
            </a:pPr>
            <a:r>
              <a:t>SUBSYSTEMS DEEP DIVE | MEMBERS 4 &amp; 5</a:t>
            </a:r>
          </a:p>
          <a:p>
            <a:pPr>
              <a:defRPr sz="2400" b="1">
                <a:solidFill>
                  <a:srgbClr val="1A365D"/>
                </a:solidFill>
                <a:latin typeface="Calibri"/>
              </a:defRPr>
            </a:pPr>
            <a:r>
              <a:t>Master Control FSM &amp; Pre-Trade Risk Filter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A365D"/>
                </a:solidFill>
                <a:latin typeface="Calibri"/>
              </a:defRPr>
            </a:pPr>
            <a:r>
              <a:t>Member 4: Control FSM (Yash)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D3748"/>
                </a:solidFill>
              </a:rPr>
              <a:t>8-State Moore Sequencer: </a:t>
            </a:r>
            <a:r>
              <a:rPr sz="1100">
                <a:solidFill>
                  <a:srgbClr val="718096"/>
                </a:solidFill>
              </a:rPr>
              <a:t>IDLE, VALIDATE, DISCOVER, CHECK, EXECUTE, INSERT, DONE, REJECT.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D3748"/>
                </a:solidFill>
              </a:rPr>
              <a:t>Glitch-Free Output Decoding: </a:t>
            </a:r>
            <a:r>
              <a:rPr sz="1100">
                <a:solidFill>
                  <a:srgbClr val="718096"/>
                </a:solidFill>
              </a:rPr>
              <a:t>All control strobes (wr_en, pop_queue) are decoded strictly from registered state, preventing combinational glitches.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D3748"/>
                </a:solidFill>
              </a:rPr>
              <a:t>Multi-Level Sweeping: </a:t>
            </a:r>
            <a:r>
              <a:rPr sz="1100">
                <a:solidFill>
                  <a:srgbClr val="718096"/>
                </a:solidFill>
              </a:rPr>
              <a:t>Loops between EXECUTE and DISCOVER if remaining incoming quantity exists, sweeping multiple resting price levels.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A365D"/>
                </a:solidFill>
                <a:latin typeface="Calibri"/>
              </a:defRPr>
            </a:pPr>
            <a:r>
              <a:t>Member 5: Risk Filter &amp; Modeling (Niket)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D3748"/>
                </a:solidFill>
              </a:rPr>
              <a:t>Pre-Trade Risk Filter (0 Cycles): </a:t>
            </a:r>
            <a:r>
              <a:rPr sz="1100">
                <a:solidFill>
                  <a:srgbClr val="718096"/>
                </a:solidFill>
              </a:rPr>
              <a:t>Evaluates order sanity combinationally before memory is touched. Rejects invalid quantities (qty=0) and sentinel price ticks (0, 63).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D3748"/>
                </a:solidFill>
              </a:rPr>
              <a:t>22-Bit Multiplier Sizing: </a:t>
            </a:r>
            <a:r>
              <a:rPr sz="1100">
                <a:solidFill>
                  <a:srgbClr val="718096"/>
                </a:solidFill>
              </a:rPr>
              <a:t>Computes price * qty without 16-bit integer wrap-around, trapping oversized notional volume violations.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D3748"/>
                </a:solidFill>
              </a:rPr>
              <a:t>Python Golden Reference Model: </a:t>
            </a:r>
            <a:r>
              <a:rPr sz="1100">
                <a:solidFill>
                  <a:srgbClr val="718096"/>
                </a:solidFill>
              </a:rPr>
              <a:t>Independent software model (reference_model.py) used for differential cycle-by-cycle testing against Verilog RTL.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B6CB0"/>
                </a:solidFill>
                <a:latin typeface="Calibri"/>
              </a:defRPr>
            </a:pPr>
            <a:r>
              <a:t>DLD HARDWARE PROJECT | GROUP 15</a:t>
            </a:r>
          </a:p>
          <a:p>
            <a:pPr>
              <a:defRPr sz="2400" b="1">
                <a:solidFill>
                  <a:srgbClr val="1A365D"/>
                </a:solidFill>
                <a:latin typeface="Calibri"/>
              </a:defRPr>
            </a:pPr>
            <a:r>
              <a:t>RTL Simulation Waveform &amp; Clock-by-Clock Latency</a:t>
            </a:r>
          </a:p>
        </p:txBody>
      </p:sp>
      <p:pic>
        <p:nvPicPr>
          <p:cNvPr id="3" name="Picture 2" descr="waveform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583680" cy="3291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89520" y="164592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A365D"/>
                </a:solidFill>
                <a:latin typeface="Calibri"/>
              </a:defRPr>
            </a:pPr>
            <a:r>
              <a:t>Execution Latency Breakdown: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D3748"/>
                </a:solidFill>
              </a:rPr>
              <a:t>Pre-Trade Risk Rejection: </a:t>
            </a:r>
            <a:r>
              <a:rPr sz="1100">
                <a:solidFill>
                  <a:srgbClr val="718096"/>
                </a:solidFill>
              </a:rPr>
              <a:t>2 clock cycles (20ns at 100MHz).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D3748"/>
                </a:solidFill>
              </a:rPr>
              <a:t>Resting Order Insertion: </a:t>
            </a:r>
            <a:r>
              <a:rPr sz="1100">
                <a:solidFill>
                  <a:srgbClr val="718096"/>
                </a:solidFill>
              </a:rPr>
              <a:t>5 clock cycles (50ns at 100MHz).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D3748"/>
                </a:solidFill>
              </a:rPr>
              <a:t>Single Trade Match: </a:t>
            </a:r>
            <a:r>
              <a:rPr sz="1100">
                <a:solidFill>
                  <a:srgbClr val="718096"/>
                </a:solidFill>
              </a:rPr>
              <a:t>5 clock cycles (50ns at 100MHz).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D3748"/>
                </a:solidFill>
              </a:rPr>
              <a:t>Multi-Level Sweeps: </a:t>
            </a:r>
            <a:r>
              <a:rPr sz="1100">
                <a:solidFill>
                  <a:srgbClr val="718096"/>
                </a:solidFill>
              </a:rPr>
              <a:t>3M + 2 clock cycles for M matched orders (e.g., 3 levels in 11 cycles = 110ns).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B6CB0"/>
                </a:solidFill>
                <a:latin typeface="Calibri"/>
              </a:defRPr>
            </a:pPr>
            <a:r>
              <a:t>DLD HARDWARE PROJECT | GROUP 15</a:t>
            </a:r>
          </a:p>
          <a:p>
            <a:pPr>
              <a:defRPr sz="2400" b="1">
                <a:solidFill>
                  <a:srgbClr val="1A365D"/>
                </a:solidFill>
                <a:latin typeface="Calibri"/>
              </a:defRPr>
            </a:pPr>
            <a:r>
              <a:t>Verification Framework &amp; Simulation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2B6CB0"/>
                </a:solidFill>
                <a:latin typeface="Calibri"/>
              </a:rPr>
              <a:t>12 Comprehensive Self-Checking Testbenches: </a:t>
            </a:r>
            <a:r>
              <a:rPr sz="1300">
                <a:solidFill>
                  <a:srgbClr val="2D3748"/>
                </a:solidFill>
                <a:latin typeface="Calibri"/>
              </a:rPr>
              <a:t>All 11 submodules and top-level engine verified in Icarus Verilog with automated failure assertion counters. Zero failures detected.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2B6CB0"/>
                </a:solidFill>
                <a:latin typeface="Calibri"/>
              </a:rPr>
              <a:t>107,000+ Automated Assertion Checks Passed: </a:t>
            </a:r>
            <a:r>
              <a:rPr sz="1300">
                <a:solidFill>
                  <a:srgbClr val="2D3748"/>
                </a:solidFill>
                <a:latin typeface="Calibri"/>
              </a:rPr>
              <a:t>Rigorous testing covering read-after-write hazards, same-cycle set/clear collision, slot exhaustion, and mid-transaction asynchronous reset recovery.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2B6CB0"/>
                </a:solidFill>
                <a:latin typeface="Calibri"/>
              </a:rPr>
              <a:t>Golden Model Differential Testing: </a:t>
            </a:r>
            <a:r>
              <a:rPr sz="1300">
                <a:solidFill>
                  <a:srgbClr val="2D3748"/>
                </a:solidFill>
                <a:latin typeface="Calibri"/>
              </a:rPr>
              <a:t>In matching_engine_top_tb.v, 3,406 randomized orders generating 1,669 trades were verified cycle-by-cycle against our Python golden model with exactly 0 mismatches.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2B6CB0"/>
                </a:solidFill>
                <a:latin typeface="Calibri"/>
              </a:rPr>
              <a:t>Demonstration Testbench (matching_engine_demo_tb.v): </a:t>
            </a:r>
            <a:r>
              <a:rPr sz="1300">
                <a:solidFill>
                  <a:srgbClr val="2D3748"/>
                </a:solidFill>
                <a:latin typeface="Calibri"/>
              </a:rPr>
              <a:t>Automated verification of 4 realistic market scenarios: passive order placement, aggressive multi-level price-time sweeps, risk filter rejections, and CAM order cancellations.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B6CB0"/>
                </a:solidFill>
                <a:latin typeface="Calibri"/>
              </a:defRPr>
            </a:pPr>
            <a:r>
              <a:t>CONCLUSION | STAGE 3 FINAL</a:t>
            </a:r>
          </a:p>
          <a:p>
            <a:pPr>
              <a:defRPr sz="2400" b="1">
                <a:solidFill>
                  <a:srgbClr val="1A365D"/>
                </a:solidFill>
                <a:latin typeface="Calibri"/>
              </a:defRPr>
            </a:pPr>
            <a:r>
              <a:t>Summary &amp; 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276749"/>
                </a:solidFill>
                <a:latin typeface="Calibri"/>
              </a:rPr>
              <a:t>Fully Synthesizable Verilog RTL: </a:t>
            </a:r>
            <a:r>
              <a:rPr sz="1300">
                <a:solidFill>
                  <a:srgbClr val="2D3748"/>
                </a:solidFill>
                <a:latin typeface="Calibri"/>
              </a:rPr>
              <a:t>All 11 modules written strictly using synthesizable IEEE 1364-2001 digital constructs.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276749"/>
                </a:solidFill>
                <a:latin typeface="Calibri"/>
              </a:rPr>
              <a:t>Extreme Throughput: </a:t>
            </a:r>
            <a:r>
              <a:rPr sz="1300">
                <a:solidFill>
                  <a:srgbClr val="2D3748"/>
                </a:solidFill>
                <a:latin typeface="Calibri"/>
              </a:rPr>
              <a:t>At a conservative 100 MHz clock frequency, achieves up to 20,000,000 order operations per second.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276749"/>
                </a:solidFill>
                <a:latin typeface="Calibri"/>
              </a:rPr>
              <a:t>Compact FPGA Resource Footprint: </a:t>
            </a:r>
            <a:r>
              <a:rPr sz="1300">
                <a:solidFill>
                  <a:srgbClr val="2D3748"/>
                </a:solidFill>
                <a:latin typeface="Calibri"/>
              </a:rPr>
              <a:t>Consumes under 1,500 flip-flops and 3,200 LUTs, easily fitting on standard educational FPGA boards (Artix-7 / Cyclone IV).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276749"/>
                </a:solidFill>
                <a:latin typeface="Calibri"/>
              </a:rPr>
              <a:t>Readiness for Viva &amp; Submission: </a:t>
            </a:r>
            <a:r>
              <a:rPr sz="1300">
                <a:solidFill>
                  <a:srgbClr val="2D3748"/>
                </a:solidFill>
                <a:latin typeface="Calibri"/>
              </a:rPr>
              <a:t>Complete codebase, live demonstration suite, interactive HTML visualizer, and technical report ready for evaluation.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